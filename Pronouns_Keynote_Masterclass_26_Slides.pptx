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KỊCH BẢN NÓI: Xin kính chào quý vị và các bạn! Hôm nay chúng ta sẽ cùng chinh phục chủ đề: PRONOUNS IN ENGLISH - Đại từ trong tiếng Anh.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KỊCH BẢN NÓI: Hãy tưởng tượng một câu nói lặp lại từ 'Tom' 5 lần: 'Tom is a student. Tom likes football...' Nghe rất nặng nề và thiếu tự nhiên!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KỊCH BẢN NÓI: Đại từ là từ dùng để thay thế cho danh từ hoặc cụm danh từ đã được nhắc đến, giúp câu văn gọn gàng, súc tích.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KỊCH BẢN NÓI: Lộ trình bài giảng hôm nay gồm 5 phần chính: Chủ ngữ, Tân ngữ, Tính từ sở hữu, Đại từ sở hữu, và Đại từ phản thân.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KỊCH BẢN NÓI: Đại từ chủ ngữ luôn đứng TRƯỚC động từ chính để đóng vai trò chủ thể thực hiện hành động.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KỊCH BẢN NÓI: Câu 01 kiểm tra vị trí chủ ngữ trước động từ 'plays'. Đáp án đúng là A: 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KỊCH BẢN NÓI: Câu 02 kiểm tra chủ ngữ ghép. Mẹo loại trừ: bỏ 'David and', ta còn lại 'I submitted', do đó chọn B: 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KỊCH BẢN NÓI: Đại từ tân ngữ luôn đứng SAU động từ hoặc SAU giới từ để tiếp nhận tác động.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KỊCH BẢN NÓI: Câu 03 đứng sau ngoại động từ 'likes' làm tân ngữ, đáp án đúng là C: 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KỊCH BẢN NÓI: Câu 04 sau giới từ 'between' bắt buộc dùng đại từ tân ngữ 'me'. Đáp án đúng là B: 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KỊCH BẢN NÓI: Tính từ sở hữu KHÔNG BAO GIỜ đứng một mình mà luôn đi kèm danh từ phía sau.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KỊCH BẢN NÓI: Tương ứng với 7 đại từ nhân xưng, ta có 7 tính từ sở hữu cơ bản: my, your, his, her, its, our, their.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KỊCH BẢN NÓI: Câu 05 ngay sau khoảng trống là danh từ 'keys'. Cần tính từ sở hữu chỉ John, đáp án đúng là C: 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KỊCH BẢN NÓI: Câu 06 trước danh từ 'friends', đại từ chủ ngữ là We, nên tính từ sở hữu tương ứng là A: 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KỊCH BẢN NÓI: Đại từ sở hữu đứng ĐỘC LẬP một mình, không có danh từ đi kèm phía sau.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KỊCH BẢN NÓI: Công thức đại số cốt lõi: Đại từ sở hữu = Tính từ sở hữu + Danh từ. Ví dụ: mine = my 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KỊCH BẢN NÓI: Câu 07 đứng một mình làm chủ ngữ vế sau (yours = your car), đáp án đúng là B: yours.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KỊCH BẢN NÓI: Câu 08 đứng sau động từ 'are' ở cuối câu chỉ quyền sở hữu, đáp án đúng là C: theirs.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KỊCH BẢN NÓI: Đại từ phản thân có 3 chức năng chính: Phản thân (Subject = Object), Nhấn mạnh (Emphatic), và Thành ngữ 'by + reflexive' = một mình.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KỊCH BẢN NÓI: Tổng quan 4 nhóm đại từ còn lại: Chỉ định (this/that), Bất định (everyone chia số ít), Nghi vấn (who/whose), Quan hệ (who/which/that).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KỊCH BẢN NÓI: Câu 09 chủ ngữ và tân ngữ là cùng một người (John tự làm đứt tay mình), đáp án đúng là C: himself.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KỊCH BẢN NÓI: Câu 10 cấu trúc 'by + reflexive' mang nghĩa tự làm một mình, đáp án đúng là B: himself.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KỊCH BẢN NÓI: Mỗi khi đứng trước một khoảng trống đại từ, chỉ cần tự hỏi 3 câu hỏi vàng: 1. Trước hay sau động từ? 2. Có danh từ đi sau không? 3. Chủ ngữ có trùng tân ngữ không?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KỊCH BẢN NÓI: Đây là bảng ma trận tổng hợp toàn diện cả 7 ngôi qua 5 cột chức năng ngữ pháp.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KỊCH BẢN NÓI: Thử thách tổng kết: câu hỏi kết hợp cả tính từ sở hữu và đại từ sở hữu. Chỗ trống 1 đi trước danh từ 'laptop' -&gt; Her. Chỗ trống 2 đứng cuối câu -&gt; hers. Đáp án đúng là B: Her / 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KỊCH BẢN NÓI: Xin cảm ơn quý thầy cô và các bạn đã chú ý lắng nghe. Giờ là phần thảo luận và giải đáp thắc mắc!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4747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00" b="1">
                <a:solidFill>
                  <a:srgbClr val="38BDF8"/>
                </a:solidFill>
                <a:latin typeface="Calibri"/>
              </a:defRPr>
            </a:pPr>
            <a:r>
              <a:t>ENGLISH GRAMMAR MASTERCLASS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PRONOUNS IN ENGLISH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How Small Words Create Fluent, Natural English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828800"/>
            <a:ext cx="9445752" cy="41148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731520"/>
          <a:lstStyle/>
          <a:p>
            <a:pPr algn="ctr">
              <a:defRPr sz="2400" b="1">
                <a:solidFill>
                  <a:srgbClr val="818CF8"/>
                </a:solidFill>
                <a:latin typeface="Arial"/>
              </a:defRPr>
            </a:pPr>
            <a:r>
              <a:t>Mastering the 5 Essential Pronoun Families</a:t>
            </a:r>
          </a:p>
          <a:p>
            <a:pPr>
              <a:spcBef>
                <a:spcPts val="16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Subject vs Object  |  Possessive Adjectives &amp; Pronouns  |  Reflexive &amp; Other Families</a:t>
            </a:r>
          </a:p>
          <a:p>
            <a:pPr>
              <a:spcBef>
                <a:spcPts val="2400"/>
              </a:spcBef>
              <a:defRPr sz="1300">
                <a:solidFill>
                  <a:srgbClr val="38BDF8"/>
                </a:solidFill>
                <a:latin typeface="Calibri"/>
              </a:defRPr>
            </a:pPr>
            <a:r>
              <a:t>5 Core Modules • Strategic Syntax Rules • 10 Interactive Classroom Polls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4747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00" b="1">
                <a:solidFill>
                  <a:srgbClr val="38BDF8"/>
                </a:solidFill>
                <a:latin typeface="Calibri"/>
              </a:defRPr>
            </a:pPr>
            <a:r>
              <a:t>ICEBREAKER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The Problem with Repetition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Why natural English communication strictly depends on pronouns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b="1" sz="1300">
                <a:solidFill>
                  <a:srgbClr val="F87171"/>
                </a:solidFill>
                <a:latin typeface="Arial"/>
              </a:defRPr>
            </a:pPr>
            <a:r>
              <a:t>[REPETITIVE &amp; ROBOTIC]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“If I say:</a:t>
            </a:r>
            <a:br/>
            <a:r>
              <a:t>Tom is a student.</a:t>
            </a:r>
            <a:br/>
            <a:r>
              <a:t>Tom likes football.</a:t>
            </a:r>
            <a:br/>
            <a:r>
              <a:t>Tom plays football every day.</a:t>
            </a:r>
            <a:br/>
            <a:r>
              <a:t>Tom lives near my house.</a:t>
            </a:r>
            <a:br/>
            <a:br/>
            <a:r>
              <a:t>Does that sound natural?”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b="1" sz="1300">
                <a:solidFill>
                  <a:srgbClr val="34D399"/>
                </a:solidFill>
                <a:latin typeface="Arial"/>
              </a:defRPr>
            </a:pPr>
            <a:r>
              <a:t>[NATURAL &amp; FLUENT DELIVERY]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“Instead, we say:</a:t>
            </a:r>
            <a:br/>
            <a:r>
              <a:t>Tom is a student.</a:t>
            </a:r>
            <a:br/>
            <a:r>
              <a:t>He likes football.</a:t>
            </a:r>
            <a:br/>
            <a:r>
              <a:t>He plays football every day.</a:t>
            </a:r>
            <a:br/>
            <a:br/>
            <a:r>
              <a:t>-&gt; The pronoun HE replaces the noun Tom to create rhythm and fluency.”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4747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00" b="1">
                <a:solidFill>
                  <a:srgbClr val="38BDF8"/>
                </a:solidFill>
                <a:latin typeface="Calibri"/>
              </a:defRPr>
            </a:pPr>
            <a:r>
              <a:t>FOUNDATION • CORE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What is a Pronoun &amp; Why Do We Need Them?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Replacing nouns to eliminate redundancy, ensure economy of language, and drive fluency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b="1" sz="1300">
                <a:solidFill>
                  <a:srgbClr val="38BDF8"/>
                </a:solidFill>
                <a:latin typeface="Arial"/>
              </a:defRPr>
            </a:pPr>
            <a:r>
              <a:t>CORE DEFINITION</a:t>
            </a:r>
          </a:p>
          <a:p>
            <a:pPr>
              <a:spcBef>
                <a:spcPts val="1200"/>
              </a:spcBef>
              <a:defRPr sz="1250">
                <a:solidFill>
                  <a:srgbClr val="FFFFFF"/>
                </a:solidFill>
                <a:latin typeface="Calibri"/>
              </a:defRPr>
            </a:pPr>
            <a:r>
              <a:t>A pronoun is a word used in place of a noun or noun phrase to refer to people, objects, or concepts.</a:t>
            </a:r>
            <a:br/>
            <a:br/>
            <a:r>
              <a:t>Key Strategic Functions:</a:t>
            </a:r>
            <a:br/>
            <a:r>
              <a:t>• Prevents tiresome repetition</a:t>
            </a:r>
            <a:br/>
            <a:r>
              <a:t>• Connects ideas across sentences</a:t>
            </a:r>
            <a:br/>
            <a:r>
              <a:t>• Distinguishes subjects from objects</a:t>
            </a:r>
            <a:br/>
            <a:r>
              <a:t>• Clarifies ownership instantly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b="1" sz="1300">
                <a:solidFill>
                  <a:srgbClr val="818CF8"/>
                </a:solidFill>
                <a:latin typeface="Arial"/>
              </a:defRPr>
            </a:pPr>
            <a:r>
              <a:t>RAPID MAPPING EXAMPLES</a:t>
            </a:r>
          </a:p>
          <a:p>
            <a:pPr>
              <a:spcBef>
                <a:spcPts val="1200"/>
              </a:spcBef>
              <a:defRPr sz="1250">
                <a:solidFill>
                  <a:srgbClr val="FFFFFF"/>
                </a:solidFill>
                <a:latin typeface="Calibri"/>
              </a:defRPr>
            </a:pPr>
            <a:r>
              <a:t>• Tom -&gt; he (Singular male)</a:t>
            </a:r>
            <a:br/>
            <a:r>
              <a:t>• Anna -&gt; she (Singular female)</a:t>
            </a:r>
            <a:br/>
            <a:r>
              <a:t>• The book -&gt; it (Object/concept)</a:t>
            </a:r>
            <a:br/>
            <a:r>
              <a:t>• Tom and Anna -&gt; they (Plural group)</a:t>
            </a:r>
            <a:br/>
            <a:r>
              <a:t>• My colleagues and I -&gt; we (Inclusive plural)</a:t>
            </a:r>
            <a:br/>
            <a:br/>
            <a:r>
              <a:t>Golden Takeaway:</a:t>
            </a:r>
            <a:br/>
            <a:r>
              <a:t>Mastering pronouns is mastering the backbone of English sentence structure!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4747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00" b="1">
                <a:solidFill>
                  <a:srgbClr val="38BDF8"/>
                </a:solidFill>
                <a:latin typeface="Calibri"/>
              </a:defRPr>
            </a:pPr>
            <a:r>
              <a:t>STRUCTURE •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Presentation Roadmap: The 5 Core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A structured curriculum designed to build absolute syntactic confidence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011680" cy="4206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/>
          <a:lstStyle/>
          <a:p>
            <a:pPr algn="ctr">
              <a:defRPr b="1" sz="1100">
                <a:solidFill>
                  <a:srgbClr val="818CF8"/>
                </a:solidFill>
                <a:latin typeface="Arial"/>
              </a:defRPr>
            </a:pPr>
            <a:r>
              <a:t>Part 01</a:t>
            </a:r>
          </a:p>
          <a:p>
            <a:pPr>
              <a:spcBef>
                <a:spcPts val="800"/>
              </a:spcBef>
              <a:defRPr b="1" sz="1300">
                <a:solidFill>
                  <a:srgbClr val="FFFFFF"/>
                </a:solidFill>
                <a:latin typeface="Arial"/>
              </a:defRPr>
            </a:pPr>
            <a:r>
              <a:t>Subject Pronouns</a:t>
            </a:r>
          </a:p>
          <a:p>
            <a:pPr>
              <a:spcBef>
                <a:spcPts val="800"/>
              </a:spcBef>
              <a:defRPr sz="1050">
                <a:solidFill>
                  <a:srgbClr val="818CF8"/>
                </a:solidFill>
                <a:latin typeface="Calibri"/>
              </a:defRPr>
            </a:pPr>
            <a:r>
              <a:t>I, you, he, she, it, we, they</a:t>
            </a:r>
          </a:p>
          <a:p>
            <a:pPr>
              <a:spcBef>
                <a:spcPts val="1200"/>
              </a:spcBef>
              <a:defRPr sz="1000">
                <a:solidFill>
                  <a:srgbClr val="94A3B8"/>
                </a:solidFill>
                <a:latin typeface="Calibri"/>
              </a:defRPr>
            </a:pPr>
            <a:r>
              <a:t>Initiator before verb (S + V)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828800"/>
            <a:ext cx="2011680" cy="4206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/>
          <a:lstStyle/>
          <a:p>
            <a:pPr algn="ctr">
              <a:defRPr b="1" sz="1100">
                <a:solidFill>
                  <a:srgbClr val="38BDF8"/>
                </a:solidFill>
                <a:latin typeface="Arial"/>
              </a:defRPr>
            </a:pPr>
            <a:r>
              <a:t>Part 02</a:t>
            </a:r>
          </a:p>
          <a:p>
            <a:pPr>
              <a:spcBef>
                <a:spcPts val="800"/>
              </a:spcBef>
              <a:defRPr b="1" sz="1300">
                <a:solidFill>
                  <a:srgbClr val="FFFFFF"/>
                </a:solidFill>
                <a:latin typeface="Arial"/>
              </a:defRPr>
            </a:pPr>
            <a:r>
              <a:t>Object Pronouns</a:t>
            </a:r>
          </a:p>
          <a:p>
            <a:pPr>
              <a:spcBef>
                <a:spcPts val="800"/>
              </a:spcBef>
              <a:defRPr sz="1050">
                <a:solidFill>
                  <a:srgbClr val="38BDF8"/>
                </a:solidFill>
                <a:latin typeface="Calibri"/>
              </a:defRPr>
            </a:pPr>
            <a:r>
              <a:t>me, you, him, her, it, us, them</a:t>
            </a:r>
          </a:p>
          <a:p>
            <a:pPr>
              <a:spcBef>
                <a:spcPts val="1200"/>
              </a:spcBef>
              <a:defRPr sz="1000">
                <a:solidFill>
                  <a:srgbClr val="94A3B8"/>
                </a:solidFill>
                <a:latin typeface="Calibri"/>
              </a:defRPr>
            </a:pPr>
            <a:r>
              <a:t>Receiver after verb &amp; prep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828800"/>
            <a:ext cx="2011680" cy="4206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/>
          <a:lstStyle/>
          <a:p>
            <a:pPr algn="ctr">
              <a:defRPr b="1" sz="1100">
                <a:solidFill>
                  <a:srgbClr val="FBBF24"/>
                </a:solidFill>
                <a:latin typeface="Arial"/>
              </a:defRPr>
            </a:pPr>
            <a:r>
              <a:t>Part 03</a:t>
            </a:r>
          </a:p>
          <a:p>
            <a:pPr>
              <a:spcBef>
                <a:spcPts val="800"/>
              </a:spcBef>
              <a:defRPr b="1" sz="1300">
                <a:solidFill>
                  <a:srgbClr val="FFFFFF"/>
                </a:solidFill>
                <a:latin typeface="Arial"/>
              </a:defRPr>
            </a:pPr>
            <a:r>
              <a:t>Possessive Adjectives</a:t>
            </a:r>
          </a:p>
          <a:p>
            <a:pPr>
              <a:spcBef>
                <a:spcPts val="800"/>
              </a:spcBef>
              <a:defRPr sz="1050">
                <a:solidFill>
                  <a:srgbClr val="FBBF24"/>
                </a:solidFill>
                <a:latin typeface="Calibri"/>
              </a:defRPr>
            </a:pPr>
            <a:r>
              <a:t>my, your, his, her, its, our, their</a:t>
            </a:r>
          </a:p>
          <a:p>
            <a:pPr>
              <a:spcBef>
                <a:spcPts val="1200"/>
              </a:spcBef>
              <a:defRPr sz="1000">
                <a:solidFill>
                  <a:srgbClr val="94A3B8"/>
                </a:solidFill>
                <a:latin typeface="Calibri"/>
              </a:defRPr>
            </a:pPr>
            <a:r>
              <a:t>Must be followed by a noun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199" y="1828800"/>
            <a:ext cx="2011680" cy="4206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/>
          <a:lstStyle/>
          <a:p>
            <a:pPr algn="ctr">
              <a:defRPr b="1" sz="1100">
                <a:solidFill>
                  <a:srgbClr val="34D399"/>
                </a:solidFill>
                <a:latin typeface="Arial"/>
              </a:defRPr>
            </a:pPr>
            <a:r>
              <a:t>Part 04</a:t>
            </a:r>
          </a:p>
          <a:p>
            <a:pPr>
              <a:spcBef>
                <a:spcPts val="800"/>
              </a:spcBef>
              <a:defRPr b="1" sz="1300">
                <a:solidFill>
                  <a:srgbClr val="FFFFFF"/>
                </a:solidFill>
                <a:latin typeface="Arial"/>
              </a:defRPr>
            </a:pPr>
            <a:r>
              <a:t>Possessive Pronouns</a:t>
            </a:r>
          </a:p>
          <a:p>
            <a:pPr>
              <a:spcBef>
                <a:spcPts val="800"/>
              </a:spcBef>
              <a:defRPr sz="1050">
                <a:solidFill>
                  <a:srgbClr val="34D399"/>
                </a:solidFill>
                <a:latin typeface="Calibri"/>
              </a:defRPr>
            </a:pPr>
            <a:r>
              <a:t>mine, yours, his, hers, ours, theirs</a:t>
            </a:r>
          </a:p>
          <a:p>
            <a:pPr>
              <a:spcBef>
                <a:spcPts val="1200"/>
              </a:spcBef>
              <a:defRPr sz="1000">
                <a:solidFill>
                  <a:srgbClr val="94A3B8"/>
                </a:solidFill>
                <a:latin typeface="Calibri"/>
              </a:defRPr>
            </a:pPr>
            <a:r>
              <a:t>Stands alone without noun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0" y="1828800"/>
            <a:ext cx="2011680" cy="4206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/>
          <a:lstStyle/>
          <a:p>
            <a:pPr algn="ctr">
              <a:defRPr b="1" sz="1100">
                <a:solidFill>
                  <a:srgbClr val="C084FC"/>
                </a:solidFill>
                <a:latin typeface="Arial"/>
              </a:defRPr>
            </a:pPr>
            <a:r>
              <a:t>Part 05</a:t>
            </a:r>
          </a:p>
          <a:p>
            <a:pPr>
              <a:spcBef>
                <a:spcPts val="800"/>
              </a:spcBef>
              <a:defRPr b="1" sz="1300">
                <a:solidFill>
                  <a:srgbClr val="FFFFFF"/>
                </a:solidFill>
                <a:latin typeface="Arial"/>
              </a:defRPr>
            </a:pPr>
            <a:r>
              <a:t>Reflexive &amp; Other</a:t>
            </a:r>
          </a:p>
          <a:p>
            <a:pPr>
              <a:spcBef>
                <a:spcPts val="800"/>
              </a:spcBef>
              <a:defRPr sz="1050">
                <a:solidFill>
                  <a:srgbClr val="C084FC"/>
                </a:solidFill>
                <a:latin typeface="Calibri"/>
              </a:defRPr>
            </a:pPr>
            <a:r>
              <a:t>myself, yourself... &amp; 4 Families</a:t>
            </a:r>
          </a:p>
          <a:p>
            <a:pPr>
              <a:spcBef>
                <a:spcPts val="1200"/>
              </a:spcBef>
              <a:defRPr sz="1000">
                <a:solidFill>
                  <a:srgbClr val="94A3B8"/>
                </a:solidFill>
                <a:latin typeface="Calibri"/>
              </a:defRPr>
            </a:pPr>
            <a:r>
              <a:t>Reflexive focus + Overview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4747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00" b="1">
                <a:solidFill>
                  <a:srgbClr val="38BDF8"/>
                </a:solidFill>
                <a:latin typeface="Calibri"/>
              </a:defRPr>
            </a:pPr>
            <a:r>
              <a:t>PART 01 • SUBJECT PRONOUNS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Subject Pronouns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The primary initiators of action: I, you, he, she, it, we, they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b="1" sz="1300">
                <a:solidFill>
                  <a:srgbClr val="818CF8"/>
                </a:solidFill>
                <a:latin typeface="Arial"/>
              </a:defRPr>
            </a:pPr>
            <a:r>
              <a:t>CORE SYNTAX RULE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[ SUBJECT PRONOUN ] + [ VERB ]</a:t>
            </a:r>
            <a:br/>
            <a:br/>
            <a:r>
              <a:t>• Always placed BEFORE the main verb</a:t>
            </a:r>
            <a:br/>
            <a:r>
              <a:t>• Initiates and controls the grammatical action</a:t>
            </a:r>
            <a:br/>
            <a:r>
              <a:t>• Conjugates the verb (He plays vs They play)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b="1" sz="1300">
                <a:solidFill>
                  <a:srgbClr val="38BDF8"/>
                </a:solidFill>
                <a:latin typeface="Arial"/>
              </a:defRPr>
            </a:pPr>
            <a:r>
              <a:t>EVERYDAY EXAMPLES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I am a software engineer.</a:t>
            </a:r>
            <a:br/>
            <a:r>
              <a:t>• She is my colleague.</a:t>
            </a:r>
            <a:br/>
            <a:r>
              <a:t>• He plays football every weekend.</a:t>
            </a:r>
            <a:br/>
            <a:r>
              <a:t>• They submitted the report on time.</a:t>
            </a:r>
            <a:br/>
            <a:br/>
            <a:r>
              <a:t>Classic Anchor: In 'I love you', I is the Subject Pronoun initiating love!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4747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00" b="1">
                <a:solidFill>
                  <a:srgbClr val="38BDF8"/>
                </a:solidFill>
                <a:latin typeface="Calibri"/>
              </a:defRPr>
            </a:pPr>
            <a:r>
              <a:t>PART 01 PRACTICE • QUESTION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Subject Identification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Selecting the correct initiator before the main predicate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5912" cy="1143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82880"/>
          <a:lstStyle/>
          <a:p>
            <a:pPr algn="ctr">
              <a:defRPr b="1" sz="1100">
                <a:solidFill>
                  <a:srgbClr val="FBBF24"/>
                </a:solidFill>
                <a:latin typeface="Arial"/>
              </a:defRPr>
            </a:pPr>
            <a:r>
              <a:t>[CHECK 01]</a:t>
            </a:r>
          </a:p>
          <a:p>
            <a:pPr>
              <a:spcBef>
                <a:spcPts val="600"/>
              </a:spcBef>
              <a:defRPr b="1" sz="1400">
                <a:solidFill>
                  <a:srgbClr val="FFFFFF"/>
                </a:solidFill>
                <a:latin typeface="Calibri"/>
              </a:defRPr>
            </a:pPr>
            <a:r>
              <a:t>“Tom is a talented striker. _____ plays football every weekend with his local club.”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5212080" cy="822960"/>
          </a:xfrm>
          <a:prstGeom prst="roundRect">
            <a:avLst/>
          </a:prstGeom>
          <a:solidFill>
            <a:srgbClr val="064E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300" b="1">
                <a:solidFill>
                  <a:srgbClr val="34D399"/>
                </a:solidFill>
                <a:latin typeface="Calibri"/>
              </a:defRPr>
            </a:pPr>
            <a:r>
              <a:t>A. He  [CORRECT]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926080"/>
            <a:ext cx="5212080" cy="822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B. Him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12080" cy="822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C. His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212080" cy="822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D. Himself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83480"/>
            <a:ext cx="10725912" cy="1234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64592"/>
          <a:lstStyle/>
          <a:p>
            <a:pPr algn="ctr">
              <a:defRPr b="1" sz="1100">
                <a:solidFill>
                  <a:srgbClr val="34D399"/>
                </a:solidFill>
                <a:latin typeface="Arial"/>
              </a:defRPr>
            </a:pPr>
            <a:r>
              <a:t>[CORRECT ANSWER: A. He]</a:t>
            </a:r>
          </a:p>
          <a:p>
            <a:pPr>
              <a:spcBef>
                <a:spcPts val="400"/>
              </a:spcBef>
              <a:defRPr sz="1150">
                <a:solidFill>
                  <a:srgbClr val="CBD5E1"/>
                </a:solidFill>
                <a:latin typeface="Calibri"/>
              </a:defRPr>
            </a:pPr>
            <a:r>
              <a:t>Positioned before verb 'plays' as subject ➔ strictly requires Subject Pronoun 'He'. Him (Object), His (Possessive), Himself (Reflexive) cannot function as subject.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4747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00" b="1">
                <a:solidFill>
                  <a:srgbClr val="38BDF8"/>
                </a:solidFill>
                <a:latin typeface="Calibri"/>
              </a:defRPr>
            </a:pPr>
            <a:r>
              <a:t>PART 01 PRACTICE • QUESTION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Compound Subject Placement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Navigating compound subject conjunctions without falling for object traps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5912" cy="1143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82880"/>
          <a:lstStyle/>
          <a:p>
            <a:pPr algn="ctr">
              <a:defRPr b="1" sz="1100">
                <a:solidFill>
                  <a:srgbClr val="FBBF24"/>
                </a:solidFill>
                <a:latin typeface="Arial"/>
              </a:defRPr>
            </a:pPr>
            <a:r>
              <a:t>[CHECK 02]</a:t>
            </a:r>
          </a:p>
          <a:p>
            <a:pPr>
              <a:spcBef>
                <a:spcPts val="600"/>
              </a:spcBef>
              <a:defRPr b="1" sz="1400">
                <a:solidFill>
                  <a:srgbClr val="FFFFFF"/>
                </a:solidFill>
                <a:latin typeface="Calibri"/>
              </a:defRPr>
            </a:pPr>
            <a:r>
              <a:t>“After the conference ended, David and _____ submitted the project report to the director.”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5212080" cy="822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A. 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926080"/>
            <a:ext cx="5212080" cy="822960"/>
          </a:xfrm>
          <a:prstGeom prst="roundRect">
            <a:avLst/>
          </a:prstGeom>
          <a:solidFill>
            <a:srgbClr val="064E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300" b="1">
                <a:solidFill>
                  <a:srgbClr val="34D399"/>
                </a:solidFill>
                <a:latin typeface="Calibri"/>
              </a:defRPr>
            </a:pPr>
            <a:r>
              <a:t>B. I  [CORRECT]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12080" cy="822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C. myself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212080" cy="822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D. mine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83480"/>
            <a:ext cx="10725912" cy="1234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64592"/>
          <a:lstStyle/>
          <a:p>
            <a:pPr algn="ctr">
              <a:defRPr b="1" sz="1100">
                <a:solidFill>
                  <a:srgbClr val="34D399"/>
                </a:solidFill>
                <a:latin typeface="Arial"/>
              </a:defRPr>
            </a:pPr>
            <a:r>
              <a:t>[CORRECT ANSWER: B. I]</a:t>
            </a:r>
          </a:p>
          <a:p>
            <a:pPr>
              <a:spcBef>
                <a:spcPts val="400"/>
              </a:spcBef>
              <a:defRPr sz="1150">
                <a:solidFill>
                  <a:srgbClr val="CBD5E1"/>
                </a:solidFill>
                <a:latin typeface="Calibri"/>
              </a:defRPr>
            </a:pPr>
            <a:r>
              <a:t>'David and I' act as compound subjects for verb 'submitted'. Verification trick: omit 'David and' ➔ 'I submitted' (correct), never 'me submitted'.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4747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00" b="1">
                <a:solidFill>
                  <a:srgbClr val="38BDF8"/>
                </a:solidFill>
                <a:latin typeface="Calibri"/>
              </a:defRPr>
            </a:pPr>
            <a:r>
              <a:t>PART 02 • OBJECT PRONOUNS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Object Pronouns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Recipients of action: me, you, him, her, it, us, them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b="1" sz="1300">
                <a:solidFill>
                  <a:srgbClr val="38BDF8"/>
                </a:solidFill>
                <a:latin typeface="Arial"/>
              </a:defRPr>
            </a:pPr>
            <a:r>
              <a:t>THE 2 GOVERNING POSITIONS</a:t>
            </a:r>
          </a:p>
          <a:p>
            <a:pPr>
              <a:spcBef>
                <a:spcPts val="1000"/>
              </a:spcBef>
              <a:defRPr sz="1250">
                <a:solidFill>
                  <a:srgbClr val="FFFFFF"/>
                </a:solidFill>
                <a:latin typeface="Calibri"/>
              </a:defRPr>
            </a:pPr>
            <a:r>
              <a:t>1. After Transitive Verbs (V + O):</a:t>
            </a:r>
            <a:br/>
            <a:r>
              <a:t>   • Peter invited HER to lunch.</a:t>
            </a:r>
            <a:br/>
            <a:r>
              <a:t>   • We called THEM yesterday.</a:t>
            </a:r>
            <a:br/>
            <a:br/>
            <a:r>
              <a:t>2. After Prepositions (Prep + O):</a:t>
            </a:r>
            <a:br/>
            <a:r>
              <a:t>   • Listen to ME.</a:t>
            </a:r>
            <a:br/>
            <a:r>
              <a:t>   • Between you and ME (never 'I').</a:t>
            </a:r>
            <a:br/>
            <a:r>
              <a:t>   • Speak with HIM.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b="1" sz="1300">
                <a:solidFill>
                  <a:srgbClr val="818CF8"/>
                </a:solidFill>
                <a:latin typeface="Arial"/>
              </a:defRPr>
            </a:pPr>
            <a:r>
              <a:t>EXECUTIVE TAKEAWAYS</a:t>
            </a:r>
          </a:p>
          <a:p>
            <a:pPr>
              <a:spcBef>
                <a:spcPts val="1000"/>
              </a:spcBef>
              <a:defRPr sz="1250">
                <a:solidFill>
                  <a:srgbClr val="FFFFFF"/>
                </a:solidFill>
                <a:latin typeface="Calibri"/>
              </a:defRPr>
            </a:pPr>
            <a:r>
              <a:t>Classic Contrast:</a:t>
            </a:r>
            <a:br/>
            <a:r>
              <a:t>• 'I love you' (You = Object)</a:t>
            </a:r>
            <a:br/>
            <a:r>
              <a:t>• 'You love me' (Me = Object)</a:t>
            </a:r>
            <a:br/>
            <a:br/>
            <a:r>
              <a:t>TOEIC Trap Alert:</a:t>
            </a:r>
            <a:br/>
            <a:r>
              <a:t>Never put Subject Pronouns after prepositions:</a:t>
            </a:r>
            <a:br/>
            <a:r>
              <a:t>✗ between you and I</a:t>
            </a:r>
            <a:br/>
            <a:r>
              <a:t>✓ between you and 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4747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00" b="1">
                <a:solidFill>
                  <a:srgbClr val="38BDF8"/>
                </a:solidFill>
                <a:latin typeface="Calibri"/>
              </a:defRPr>
            </a:pPr>
            <a:r>
              <a:t>PART 02 PRACTICE • QUESTION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Object Replacement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Identifying direct objects receiving verb 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5912" cy="1143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82880"/>
          <a:lstStyle/>
          <a:p>
            <a:pPr algn="ctr">
              <a:defRPr b="1" sz="1100">
                <a:solidFill>
                  <a:srgbClr val="FBBF24"/>
                </a:solidFill>
                <a:latin typeface="Arial"/>
              </a:defRPr>
            </a:pPr>
            <a:r>
              <a:t>[CHECK 03]</a:t>
            </a:r>
          </a:p>
          <a:p>
            <a:pPr>
              <a:spcBef>
                <a:spcPts val="600"/>
              </a:spcBef>
              <a:defRPr b="1" sz="1400">
                <a:solidFill>
                  <a:srgbClr val="FFFFFF"/>
                </a:solidFill>
                <a:latin typeface="Calibri"/>
              </a:defRPr>
            </a:pPr>
            <a:r>
              <a:t>“Anna is very friendly. Peter likes _____ very much.”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5212080" cy="822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A. she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926080"/>
            <a:ext cx="5212080" cy="822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B. Anna likes him.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12080" cy="822960"/>
          </a:xfrm>
          <a:prstGeom prst="roundRect">
            <a:avLst/>
          </a:prstGeom>
          <a:solidFill>
            <a:srgbClr val="064E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300" b="1">
                <a:solidFill>
                  <a:srgbClr val="34D399"/>
                </a:solidFill>
                <a:latin typeface="Calibri"/>
              </a:defRPr>
            </a:pPr>
            <a:r>
              <a:t>C. her  [CORRECT]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212080" cy="822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D. hers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83480"/>
            <a:ext cx="10725912" cy="1234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64592"/>
          <a:lstStyle/>
          <a:p>
            <a:pPr algn="ctr">
              <a:defRPr b="1" sz="1100">
                <a:solidFill>
                  <a:srgbClr val="34D399"/>
                </a:solidFill>
                <a:latin typeface="Arial"/>
              </a:defRPr>
            </a:pPr>
            <a:r>
              <a:t>[CORRECT ANSWER: C. her]</a:t>
            </a:r>
          </a:p>
          <a:p>
            <a:pPr>
              <a:spcBef>
                <a:spcPts val="400"/>
              </a:spcBef>
              <a:defRPr sz="1150">
                <a:solidFill>
                  <a:srgbClr val="CBD5E1"/>
                </a:solidFill>
                <a:latin typeface="Calibri"/>
              </a:defRPr>
            </a:pPr>
            <a:r>
              <a:t>'Anna' functions as direct object after transitive verb 'likes' ➔ requires Object Pronoun 'her'. Options 'she' (Subject) and 'hers' (Possessive Pronoun) are invalid.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4747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00" b="1">
                <a:solidFill>
                  <a:srgbClr val="38BDF8"/>
                </a:solidFill>
                <a:latin typeface="Calibri"/>
              </a:defRPr>
            </a:pPr>
            <a:r>
              <a:t>PART 02 PRACTICE • QUESTION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Prepositional Object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Applying the universal rule: Prepositions mandate object pronouns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5912" cy="1143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82880"/>
          <a:lstStyle/>
          <a:p>
            <a:pPr algn="ctr">
              <a:defRPr b="1" sz="1100">
                <a:solidFill>
                  <a:srgbClr val="FBBF24"/>
                </a:solidFill>
                <a:latin typeface="Arial"/>
              </a:defRPr>
            </a:pPr>
            <a:r>
              <a:t>[CHECK 04]</a:t>
            </a:r>
          </a:p>
          <a:p>
            <a:pPr>
              <a:spcBef>
                <a:spcPts val="600"/>
              </a:spcBef>
              <a:defRPr b="1" sz="1400">
                <a:solidFill>
                  <a:srgbClr val="FFFFFF"/>
                </a:solidFill>
                <a:latin typeface="Calibri"/>
              </a:defRPr>
            </a:pPr>
            <a:r>
              <a:t>“This confidential agreement must strictly remain between the client and _____.”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5212080" cy="822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A. 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926080"/>
            <a:ext cx="5212080" cy="822960"/>
          </a:xfrm>
          <a:prstGeom prst="roundRect">
            <a:avLst/>
          </a:prstGeom>
          <a:solidFill>
            <a:srgbClr val="064E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300" b="1">
                <a:solidFill>
                  <a:srgbClr val="34D399"/>
                </a:solidFill>
                <a:latin typeface="Calibri"/>
              </a:defRPr>
            </a:pPr>
            <a:r>
              <a:t>B. me  [CORRECT]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12080" cy="822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C. my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212080" cy="822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D. mine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83480"/>
            <a:ext cx="10725912" cy="1234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64592"/>
          <a:lstStyle/>
          <a:p>
            <a:pPr algn="ctr">
              <a:defRPr b="1" sz="1100">
                <a:solidFill>
                  <a:srgbClr val="34D399"/>
                </a:solidFill>
                <a:latin typeface="Arial"/>
              </a:defRPr>
            </a:pPr>
            <a:r>
              <a:t>[CORRECT ANSWER: B. me]</a:t>
            </a:r>
          </a:p>
          <a:p>
            <a:pPr>
              <a:spcBef>
                <a:spcPts val="400"/>
              </a:spcBef>
              <a:defRPr sz="1150">
                <a:solidFill>
                  <a:srgbClr val="CBD5E1"/>
                </a:solidFill>
                <a:latin typeface="Calibri"/>
              </a:defRPr>
            </a:pPr>
            <a:r>
              <a:t>'Between' is a preposition. Prepositions strictly require Object Pronouns ➔ 'between the client and me'. Subject Pronoun 'I' cannot follow a preposition.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4747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00" b="1">
                <a:solidFill>
                  <a:srgbClr val="38BDF8"/>
                </a:solidFill>
                <a:latin typeface="Calibri"/>
              </a:defRPr>
            </a:pPr>
            <a:r>
              <a:t>PART 03 • POSSESSIVE ADJECTIVES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Possessive Adjectives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Essential noun modifiers establishing belonging: Possessive Adjective + Noun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b="1" sz="1300">
                <a:solidFill>
                  <a:srgbClr val="FBBF24"/>
                </a:solidFill>
                <a:latin typeface="Arial"/>
              </a:defRPr>
            </a:pPr>
            <a:r>
              <a:t>MANDATORY NOUN RULE</a:t>
            </a:r>
          </a:p>
          <a:p>
            <a:pPr>
              <a:spcBef>
                <a:spcPts val="1000"/>
              </a:spcBef>
              <a:defRPr sz="1250">
                <a:solidFill>
                  <a:srgbClr val="FFFFFF"/>
                </a:solidFill>
                <a:latin typeface="Calibri"/>
              </a:defRPr>
            </a:pPr>
            <a:r>
              <a:t>[ Possessive Adjective ] + [ NOUN / Noun Phrase ]</a:t>
            </a:r>
            <a:br/>
            <a:br/>
            <a:r>
              <a:t>Examples requested by user:</a:t>
            </a:r>
            <a:br/>
            <a:r>
              <a:t>• This is MY book.</a:t>
            </a:r>
            <a:br/>
            <a:r>
              <a:t>• HER laptop is on the table.</a:t>
            </a:r>
            <a:br/>
            <a:br/>
            <a:r>
              <a:t>* Never stands alone; always precedes and modifies an accompanying noun.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b="1" sz="1300">
                <a:solidFill>
                  <a:srgbClr val="F87171"/>
                </a:solidFill>
                <a:latin typeface="Arial"/>
              </a:defRPr>
            </a:pPr>
            <a:r>
              <a:t>THE 'ITS' VS 'IT'S' TRAP</a:t>
            </a:r>
          </a:p>
          <a:p>
            <a:pPr>
              <a:spcBef>
                <a:spcPts val="1000"/>
              </a:spcBef>
              <a:defRPr sz="1250">
                <a:solidFill>
                  <a:srgbClr val="FFFFFF"/>
                </a:solidFill>
                <a:latin typeface="Calibri"/>
              </a:defRPr>
            </a:pPr>
            <a:r>
              <a:t>[RULE 1] ITS (no apostrophe) = Possessive Adjective</a:t>
            </a:r>
            <a:br/>
            <a:r>
              <a:t>Denotes ownership for objects, entities, or animals:</a:t>
            </a:r>
            <a:br/>
            <a:r>
              <a:t>&gt; “The company updated its security protocol.”</a:t>
            </a:r>
            <a:br/>
            <a:br/>
            <a:r>
              <a:t>[RULE 2] IT'S (with apostrophe) = Contraction of 'it is' / 'it has'</a:t>
            </a:r>
            <a:br/>
            <a:r>
              <a:t>A complete clause (Subject + Verb), NOT an adjective:</a:t>
            </a:r>
            <a:br/>
            <a:r>
              <a:t>&gt; “It's important to verify the numbers.”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4747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00" b="1">
                <a:solidFill>
                  <a:srgbClr val="38BDF8"/>
                </a:solidFill>
                <a:latin typeface="Calibri"/>
              </a:defRPr>
            </a:pPr>
            <a:r>
              <a:t>PART 03 • POSSESSIVE ADJECTIVES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The 7 Possessive Adjectives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Corresponding to each personal pronoun, there are 7 fundamental possessive adjectives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b="1" sz="1250">
                <a:solidFill>
                  <a:srgbClr val="FBBF24"/>
                </a:solidFill>
                <a:latin typeface="Arial"/>
              </a:defRPr>
            </a:pPr>
            <a:r>
              <a:t>SINGULAR FORMS (INDIVIDUAL OWNERSHIP)</a:t>
            </a:r>
          </a:p>
          <a:p>
            <a:pPr>
              <a:spcBef>
                <a:spcPts val="1200"/>
              </a:spcBef>
              <a:defRPr sz="1300">
                <a:solidFill>
                  <a:srgbClr val="FFFFFF"/>
                </a:solidFill>
                <a:latin typeface="Consolas"/>
              </a:defRPr>
            </a:pPr>
            <a:r>
              <a:t>• I    -&gt; MY    (e.g., my phone)</a:t>
            </a:r>
            <a:br/>
            <a:r>
              <a:t>• YOU  -&gt; YOUR  (e.g., your idea)</a:t>
            </a:r>
            <a:br/>
            <a:r>
              <a:t>• HE   -&gt; HIS   (e.g., his car)</a:t>
            </a:r>
            <a:br/>
            <a:r>
              <a:t>• SHE  -&gt; HER   (e.g., her bag)</a:t>
            </a:r>
            <a:br/>
            <a:r>
              <a:t>• IT   -&gt; ITS   (e.g., its tail)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b="1" sz="1250">
                <a:solidFill>
                  <a:srgbClr val="34D399"/>
                </a:solidFill>
                <a:latin typeface="Arial"/>
              </a:defRPr>
            </a:pPr>
            <a:r>
              <a:t>PLURAL FORMS &amp; CORE SYNTAX RULE</a:t>
            </a:r>
          </a:p>
          <a:p>
            <a:pPr>
              <a:spcBef>
                <a:spcPts val="1200"/>
              </a:spcBef>
              <a:defRPr sz="1250">
                <a:solidFill>
                  <a:srgbClr val="FFFFFF"/>
                </a:solidFill>
                <a:latin typeface="Calibri"/>
              </a:defRPr>
            </a:pPr>
            <a:r>
              <a:t>• WE   -&gt; OUR   (e.g., our team)</a:t>
            </a:r>
            <a:br/>
            <a:r>
              <a:t>• THEY -&gt; THEIR (e.g., their house)</a:t>
            </a:r>
            <a:br/>
            <a:br/>
            <a:r>
              <a:t>[CORE RULE]:</a:t>
            </a:r>
            <a:br/>
            <a:r>
              <a:t>[ Possessive Adjective ] + [ NOUN / Noun Phrase ]</a:t>
            </a:r>
            <a:br/>
            <a:r>
              <a:t>All 7 possessive adjectives strictly require an accompanying noun. They never stand alone!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4747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00" b="1">
                <a:solidFill>
                  <a:srgbClr val="38BDF8"/>
                </a:solidFill>
                <a:latin typeface="Calibri"/>
              </a:defRPr>
            </a:pPr>
            <a:r>
              <a:t>PART 03 PRACTICE • QUESTION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Noun Collocation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Observing structural dependencies before the noun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5912" cy="1143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82880"/>
          <a:lstStyle/>
          <a:p>
            <a:pPr algn="ctr">
              <a:defRPr b="1" sz="1100">
                <a:solidFill>
                  <a:srgbClr val="FBBF24"/>
                </a:solidFill>
                <a:latin typeface="Arial"/>
              </a:defRPr>
            </a:pPr>
            <a:r>
              <a:t>[CHECK 05]</a:t>
            </a:r>
          </a:p>
          <a:p>
            <a:pPr>
              <a:spcBef>
                <a:spcPts val="600"/>
              </a:spcBef>
              <a:defRPr b="1" sz="1400">
                <a:solidFill>
                  <a:srgbClr val="FFFFFF"/>
                </a:solidFill>
                <a:latin typeface="Calibri"/>
              </a:defRPr>
            </a:pPr>
            <a:r>
              <a:t>“John is looking for _____ keys. He cannot find them anywhere.”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5212080" cy="822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A. he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926080"/>
            <a:ext cx="5212080" cy="822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B. him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12080" cy="822960"/>
          </a:xfrm>
          <a:prstGeom prst="roundRect">
            <a:avLst/>
          </a:prstGeom>
          <a:solidFill>
            <a:srgbClr val="064E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300" b="1">
                <a:solidFill>
                  <a:srgbClr val="34D399"/>
                </a:solidFill>
                <a:latin typeface="Calibri"/>
              </a:defRPr>
            </a:pPr>
            <a:r>
              <a:t>C. his  [CORRECT]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212080" cy="822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D. himself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83480"/>
            <a:ext cx="10725912" cy="1234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64592"/>
          <a:lstStyle/>
          <a:p>
            <a:pPr algn="ctr">
              <a:defRPr b="1" sz="1100">
                <a:solidFill>
                  <a:srgbClr val="34D399"/>
                </a:solidFill>
                <a:latin typeface="Arial"/>
              </a:defRPr>
            </a:pPr>
            <a:r>
              <a:t>[CORRECT ANSWER: C. his]</a:t>
            </a:r>
          </a:p>
          <a:p>
            <a:pPr>
              <a:spcBef>
                <a:spcPts val="400"/>
              </a:spcBef>
              <a:defRPr sz="1150">
                <a:solidFill>
                  <a:srgbClr val="CBD5E1"/>
                </a:solidFill>
                <a:latin typeface="Calibri"/>
              </a:defRPr>
            </a:pPr>
            <a:r>
              <a:t>Immediately following the blank is the plural noun keys. Apply rule: [Possessive Adjective + Noun], this position strictly requires a possessive adjective to modify keys. Referring to singular male John ➔ select 'his'.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4747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00" b="1">
                <a:solidFill>
                  <a:srgbClr val="38BDF8"/>
                </a:solidFill>
                <a:latin typeface="Calibri"/>
              </a:defRPr>
            </a:pPr>
            <a:r>
              <a:t>PART 03 PRACTICE • QUESTION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Subject-Referent Possessive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Selecting the correct possessive determiner before plural nouns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5912" cy="1143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82880"/>
          <a:lstStyle/>
          <a:p>
            <a:pPr algn="ctr">
              <a:defRPr b="1" sz="1100">
                <a:solidFill>
                  <a:srgbClr val="FBBF24"/>
                </a:solidFill>
                <a:latin typeface="Arial"/>
              </a:defRPr>
            </a:pPr>
            <a:r>
              <a:t>[CHECK 06]</a:t>
            </a:r>
          </a:p>
          <a:p>
            <a:pPr>
              <a:spcBef>
                <a:spcPts val="600"/>
              </a:spcBef>
              <a:defRPr b="1" sz="1400">
                <a:solidFill>
                  <a:srgbClr val="FFFFFF"/>
                </a:solidFill>
                <a:latin typeface="Calibri"/>
              </a:defRPr>
            </a:pPr>
            <a:r>
              <a:t>“We invited all of _____ friends to the end-of-year party.”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5212080" cy="822960"/>
          </a:xfrm>
          <a:prstGeom prst="roundRect">
            <a:avLst/>
          </a:prstGeom>
          <a:solidFill>
            <a:srgbClr val="064E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300" b="1">
                <a:solidFill>
                  <a:srgbClr val="34D399"/>
                </a:solidFill>
                <a:latin typeface="Calibri"/>
              </a:defRPr>
            </a:pPr>
            <a:r>
              <a:t>A. our  [CORRECT]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926080"/>
            <a:ext cx="5212080" cy="822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B. 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12080" cy="822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C. ours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212080" cy="822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D. we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83480"/>
            <a:ext cx="10725912" cy="1234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64592"/>
          <a:lstStyle/>
          <a:p>
            <a:pPr algn="ctr">
              <a:defRPr b="1" sz="1100">
                <a:solidFill>
                  <a:srgbClr val="34D399"/>
                </a:solidFill>
                <a:latin typeface="Arial"/>
              </a:defRPr>
            </a:pPr>
            <a:r>
              <a:t>[CORRECT ANSWER: A. our]</a:t>
            </a:r>
          </a:p>
          <a:p>
            <a:pPr>
              <a:spcBef>
                <a:spcPts val="400"/>
              </a:spcBef>
              <a:defRPr sz="1150">
                <a:solidFill>
                  <a:srgbClr val="CBD5E1"/>
                </a:solidFill>
                <a:latin typeface="Calibri"/>
              </a:defRPr>
            </a:pPr>
            <a:r>
              <a:t>Following the blank is the plural noun friends. According to formula: [Possessive Adjective + Noun], a possessive adjective is required. For subject We ➔ select 'our' (our friends). Note: 'ours' stands alone without a noun.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4747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00" b="1">
                <a:solidFill>
                  <a:srgbClr val="38BDF8"/>
                </a:solidFill>
                <a:latin typeface="Calibri"/>
              </a:defRPr>
            </a:pPr>
            <a:r>
              <a:t>PART 04 • POSSESSIVE PRONOUNS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Possessive Pronouns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Addressing the fundamental question: “Whose is this?”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b="1" sz="1300">
                <a:solidFill>
                  <a:srgbClr val="C084FC"/>
                </a:solidFill>
                <a:latin typeface="Arial"/>
              </a:defRPr>
            </a:pPr>
            <a:r>
              <a:t>THE 7 POSSESSIVE PRONOUNS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  <a:latin typeface="Consolas"/>
              </a:defRPr>
            </a:pPr>
            <a:r>
              <a:t>• I    -&gt; MINE</a:t>
            </a:r>
            <a:br/>
            <a:r>
              <a:t>• YOU  -&gt; YOURS</a:t>
            </a:r>
            <a:br/>
            <a:r>
              <a:t>• HE   -&gt; HIS</a:t>
            </a:r>
            <a:br/>
            <a:r>
              <a:t>• SHE  -&gt; HERS</a:t>
            </a:r>
            <a:br/>
            <a:r>
              <a:t>• IT   -&gt; ITS</a:t>
            </a:r>
            <a:br/>
            <a:r>
              <a:t>• WE   -&gt; OURS</a:t>
            </a:r>
            <a:br/>
            <a:r>
              <a:t>• THEY -&gt; THEIRS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b="1" sz="1300">
                <a:solidFill>
                  <a:srgbClr val="34D399"/>
                </a:solidFill>
                <a:latin typeface="Arial"/>
              </a:defRPr>
            </a:pPr>
            <a:r>
              <a:t>STRATEGIC ROLE &amp; USAGE</a:t>
            </a:r>
          </a:p>
          <a:p>
            <a:pPr>
              <a:spcBef>
                <a:spcPts val="1000"/>
              </a:spcBef>
              <a:defRPr sz="1250">
                <a:solidFill>
                  <a:srgbClr val="FFFFFF"/>
                </a:solidFill>
                <a:latin typeface="Calibri"/>
              </a:defRPr>
            </a:pPr>
            <a:r>
              <a:t>Used to declare ownership definitively without repeating the noun:</a:t>
            </a:r>
            <a:br/>
            <a:r>
              <a:t>“Whose book is this?”</a:t>
            </a:r>
            <a:br/>
            <a:br/>
            <a:r>
              <a:t>Demonstration:</a:t>
            </a:r>
            <a:br/>
            <a:r>
              <a:t>“This book is MINE.”</a:t>
            </a:r>
            <a:br/>
            <a:r>
              <a:t>= This book belongs to me.</a:t>
            </a:r>
            <a:br/>
            <a:br/>
            <a:r>
              <a:t>* Key point: MINE stands completely alone at clause end.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4747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00" b="1">
                <a:solidFill>
                  <a:srgbClr val="38BDF8"/>
                </a:solidFill>
                <a:latin typeface="Calibri"/>
              </a:defRPr>
            </a:pPr>
            <a:r>
              <a:t>PART 03 &amp; 04 • COMPARATIVE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Possessive Adjective vs. Possessive Pronoun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The algebraic formula of English grammar: Possessive Pronoun = Possessive Adjective + Noun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b="1" sz="1200">
                <a:solidFill>
                  <a:srgbClr val="FBBF24"/>
                </a:solidFill>
                <a:latin typeface="Arial"/>
              </a:defRPr>
            </a:pPr>
            <a:r>
              <a:t>CATEGORY A: POSSESSIVE ADJECTIVES</a:t>
            </a:r>
          </a:p>
          <a:p>
            <a:pPr>
              <a:spcBef>
                <a:spcPts val="1000"/>
              </a:spcBef>
              <a:defRPr sz="1250">
                <a:solidFill>
                  <a:srgbClr val="FFFFFF"/>
                </a:solidFill>
                <a:latin typeface="Calibri"/>
              </a:defRPr>
            </a:pPr>
            <a:r>
              <a:t>my, your, his, her, its, our, their</a:t>
            </a:r>
            <a:br/>
            <a:br/>
            <a:r>
              <a:t>Rule: Possessive Adjective + Noun</a:t>
            </a:r>
            <a:br/>
            <a:r>
              <a:t>Example:</a:t>
            </a:r>
            <a:br/>
            <a:r>
              <a:t>• My house is beautiful.</a:t>
            </a:r>
            <a:br/>
            <a:r>
              <a:t>(Never stands alone)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b="1" sz="1200">
                <a:solidFill>
                  <a:srgbClr val="38BDF8"/>
                </a:solidFill>
                <a:latin typeface="Arial"/>
              </a:defRPr>
            </a:pPr>
            <a:r>
              <a:t>CATEGORY B: POSSESSIVE PRONOUNS</a:t>
            </a:r>
          </a:p>
          <a:p>
            <a:pPr>
              <a:spcBef>
                <a:spcPts val="1000"/>
              </a:spcBef>
              <a:defRPr sz="1250">
                <a:solidFill>
                  <a:srgbClr val="FFFFFF"/>
                </a:solidFill>
                <a:latin typeface="Calibri"/>
              </a:defRPr>
            </a:pPr>
            <a:r>
              <a:t>mine, yours, his, hers, ours, theirs</a:t>
            </a:r>
            <a:br/>
            <a:br/>
            <a:r>
              <a:t>The Algebraic Equation:</a:t>
            </a:r>
            <a:br/>
            <a:r>
              <a:t>Possessive Pronoun = Possessive Adj + Noun</a:t>
            </a:r>
            <a:br/>
            <a:r>
              <a:t>Example:</a:t>
            </a:r>
            <a:br/>
            <a:r>
              <a:t>• “Your books are heavy, MINE are heavy too.”</a:t>
            </a:r>
            <a:br/>
            <a:r>
              <a:t>  (mine = my books, avoids repeating 'books')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4747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00" b="1">
                <a:solidFill>
                  <a:srgbClr val="38BDF8"/>
                </a:solidFill>
                <a:latin typeface="Calibri"/>
              </a:defRPr>
            </a:pPr>
            <a:r>
              <a:t>PART 04 PRACTICE • QUESTION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Standalone Position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Evaluating standalone ownership markers without succeeding nouns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5912" cy="1143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82880"/>
          <a:lstStyle/>
          <a:p>
            <a:pPr algn="ctr">
              <a:defRPr b="1" sz="1100">
                <a:solidFill>
                  <a:srgbClr val="FBBF24"/>
                </a:solidFill>
                <a:latin typeface="Arial"/>
              </a:defRPr>
            </a:pPr>
            <a:r>
              <a:t>[CHECK 07]</a:t>
            </a:r>
          </a:p>
          <a:p>
            <a:pPr>
              <a:spcBef>
                <a:spcPts val="600"/>
              </a:spcBef>
              <a:defRPr b="1" sz="1400">
                <a:solidFill>
                  <a:srgbClr val="FFFFFF"/>
                </a:solidFill>
                <a:latin typeface="Calibri"/>
              </a:defRPr>
            </a:pPr>
            <a:r>
              <a:t>“My car is in the repair shop, but _____ is parked outside.”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5212080" cy="822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A. your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926080"/>
            <a:ext cx="5212080" cy="822960"/>
          </a:xfrm>
          <a:prstGeom prst="roundRect">
            <a:avLst/>
          </a:prstGeom>
          <a:solidFill>
            <a:srgbClr val="064E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300" b="1">
                <a:solidFill>
                  <a:srgbClr val="34D399"/>
                </a:solidFill>
                <a:latin typeface="Calibri"/>
              </a:defRPr>
            </a:pPr>
            <a:r>
              <a:t>B. yours  [CORRECT]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12080" cy="822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C. you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212080" cy="822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D. yourself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83480"/>
            <a:ext cx="10725912" cy="1234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64592"/>
          <a:lstStyle/>
          <a:p>
            <a:pPr algn="ctr">
              <a:defRPr b="1" sz="1100">
                <a:solidFill>
                  <a:srgbClr val="34D399"/>
                </a:solidFill>
                <a:latin typeface="Arial"/>
              </a:defRPr>
            </a:pPr>
            <a:r>
              <a:t>[CORRECT ANSWER: B. yours]</a:t>
            </a:r>
          </a:p>
          <a:p>
            <a:pPr>
              <a:spcBef>
                <a:spcPts val="400"/>
              </a:spcBef>
              <a:defRPr sz="1150">
                <a:solidFill>
                  <a:srgbClr val="CBD5E1"/>
                </a:solidFill>
                <a:latin typeface="Calibri"/>
              </a:defRPr>
            </a:pPr>
            <a:r>
              <a:t>Follows clause transition without an accompanying noun ➔ strictly requires Possessive Pronoun 'yours' (= your car). 'Your' is an adjective and requires a noun.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4747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00" b="1">
                <a:solidFill>
                  <a:srgbClr val="38BDF8"/>
                </a:solidFill>
                <a:latin typeface="Calibri"/>
              </a:defRPr>
            </a:pPr>
            <a:r>
              <a:t>PART 04 PRACTICE • QUESTION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Predicate Possessive 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Distinguishing belonging without accompanying nouns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5912" cy="1143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82880"/>
          <a:lstStyle/>
          <a:p>
            <a:pPr algn="ctr">
              <a:defRPr b="1" sz="1100">
                <a:solidFill>
                  <a:srgbClr val="FBBF24"/>
                </a:solidFill>
                <a:latin typeface="Arial"/>
              </a:defRPr>
            </a:pPr>
            <a:r>
              <a:t>[CHECK 08]</a:t>
            </a:r>
          </a:p>
          <a:p>
            <a:pPr>
              <a:spcBef>
                <a:spcPts val="600"/>
              </a:spcBef>
              <a:defRPr b="1" sz="1400">
                <a:solidFill>
                  <a:srgbClr val="FFFFFF"/>
                </a:solidFill>
                <a:latin typeface="Calibri"/>
              </a:defRPr>
            </a:pPr>
            <a:r>
              <a:t>“These project documents belong to the marketing team; in fact, they are _____.”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5212080" cy="822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A. their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926080"/>
            <a:ext cx="5212080" cy="822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B. them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12080" cy="822960"/>
          </a:xfrm>
          <a:prstGeom prst="roundRect">
            <a:avLst/>
          </a:prstGeom>
          <a:solidFill>
            <a:srgbClr val="064E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300" b="1">
                <a:solidFill>
                  <a:srgbClr val="34D399"/>
                </a:solidFill>
                <a:latin typeface="Calibri"/>
              </a:defRPr>
            </a:pPr>
            <a:r>
              <a:t>C. theirs  [CORRECT]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212080" cy="822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D. themselves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83480"/>
            <a:ext cx="10725912" cy="1234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64592"/>
          <a:lstStyle/>
          <a:p>
            <a:pPr algn="ctr">
              <a:defRPr b="1" sz="1100">
                <a:solidFill>
                  <a:srgbClr val="34D399"/>
                </a:solidFill>
                <a:latin typeface="Arial"/>
              </a:defRPr>
            </a:pPr>
            <a:r>
              <a:t>[CORRECT ANSWER: C. theirs]</a:t>
            </a:r>
          </a:p>
          <a:p>
            <a:pPr>
              <a:spcBef>
                <a:spcPts val="400"/>
              </a:spcBef>
              <a:defRPr sz="1150">
                <a:solidFill>
                  <a:srgbClr val="CBD5E1"/>
                </a:solidFill>
                <a:latin typeface="Calibri"/>
              </a:defRPr>
            </a:pPr>
            <a:r>
              <a:t>Positioned after verb 'are' at sentence end to denote independent ownership (they are theirs = they are their documents) ➔ requires Possessive Pronoun 'theirs'.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4747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00" b="1">
                <a:solidFill>
                  <a:srgbClr val="38BDF8"/>
                </a:solidFill>
                <a:latin typeface="Calibri"/>
              </a:defRPr>
            </a:pPr>
            <a:r>
              <a:t>PART 05 • REFLEXIVE PRONOUNS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Reflexive Pronouns: 3 Strategic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When the action returns to the subject: myself, yourself, himself, herself, itself, ourselves, themselves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10712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100">
                <a:solidFill>
                  <a:srgbClr val="818CF8"/>
                </a:solidFill>
                <a:latin typeface="Arial"/>
              </a:defRPr>
            </a:pPr>
            <a:r>
              <a:t>1. REFLECTION (Subject = Object)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  <a:latin typeface="Calibri"/>
              </a:defRPr>
            </a:pPr>
            <a:r>
              <a:t>Action reflects back onto the actor:</a:t>
            </a:r>
            <a:br/>
            <a:r>
              <a:t>• “I love myself.”</a:t>
            </a:r>
            <a:br/>
            <a:r>
              <a:t>• “He cut himself while cooking.”</a:t>
            </a:r>
            <a:br/>
            <a:r>
              <a:t>• Subject &amp; Object are the same person.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37360"/>
            <a:ext cx="3410712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100">
                <a:solidFill>
                  <a:srgbClr val="38BDF8"/>
                </a:solidFill>
                <a:latin typeface="Arial"/>
              </a:defRPr>
            </a:pPr>
            <a:r>
              <a:t>2. EMPHATIC INTENSITY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  <a:latin typeface="Calibri"/>
              </a:defRPr>
            </a:pPr>
            <a:r>
              <a:t>Emphasizes personal agency:</a:t>
            </a:r>
            <a:br/>
            <a:r>
              <a:t>• “She carried these books herself.”</a:t>
            </a:r>
            <a:br/>
            <a:r>
              <a:t>• “The CEO himself signed the contract.”</a:t>
            </a:r>
            <a:br/>
            <a:r>
              <a:t>• Can be removed without breaking grammar.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737360"/>
            <a:ext cx="3410712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100">
                <a:solidFill>
                  <a:srgbClr val="34D399"/>
                </a:solidFill>
                <a:latin typeface="Arial"/>
              </a:defRPr>
            </a:pPr>
            <a:r>
              <a:t>3. BY + REFLEXIVE = ALONE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  <a:latin typeface="Calibri"/>
              </a:defRPr>
            </a:pPr>
            <a:r>
              <a:t>Classic idiomatic syntax:</a:t>
            </a:r>
            <a:br/>
            <a:r>
              <a:t>• by myself = on my own / alone</a:t>
            </a:r>
            <a:br/>
            <a:r>
              <a:t>• “I completed the project by myself.”</a:t>
            </a:r>
            <a:br/>
            <a:r>
              <a:t>• Signifies independence and self-reliance.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4747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00" b="1">
                <a:solidFill>
                  <a:srgbClr val="38BDF8"/>
                </a:solidFill>
                <a:latin typeface="Calibri"/>
              </a:defRPr>
            </a:pPr>
            <a:r>
              <a:t>PART 05 • ADVANCED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Overview of Other Pronoun Families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A rapid strategic tour of Demonstrative, Indefinite, Interrogative, and Relative pronouns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b="1" sz="1150">
                <a:solidFill>
                  <a:srgbClr val="38BDF8"/>
                </a:solidFill>
                <a:latin typeface="Arial"/>
              </a:defRPr>
            </a:pPr>
            <a:r>
              <a:t>1. DEMONSTRATIVE PRONOUNS</a:t>
            </a:r>
          </a:p>
          <a:p>
            <a:pPr>
              <a:spcBef>
                <a:spcPts val="600"/>
              </a:spcBef>
              <a:defRPr sz="1150">
                <a:solidFill>
                  <a:srgbClr val="FFFFFF"/>
                </a:solidFill>
                <a:latin typeface="Calibri"/>
              </a:defRPr>
            </a:pPr>
            <a:r>
              <a:t>Near: This / These • Far: That / Those</a:t>
            </a:r>
            <a:br/>
            <a:r>
              <a:t>Note: This/That also pair with uncountable nouns (This advice, That water).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b="1" sz="1150">
                <a:solidFill>
                  <a:srgbClr val="34D399"/>
                </a:solidFill>
                <a:latin typeface="Arial"/>
              </a:defRPr>
            </a:pPr>
            <a:r>
              <a:t>2. INDEFINITE PRONOUNS</a:t>
            </a:r>
          </a:p>
          <a:p>
            <a:pPr>
              <a:spcBef>
                <a:spcPts val="600"/>
              </a:spcBef>
              <a:defRPr sz="1150">
                <a:solidFill>
                  <a:srgbClr val="FFFFFF"/>
                </a:solidFill>
                <a:latin typeface="Calibri"/>
              </a:defRPr>
            </a:pPr>
            <a:r>
              <a:t>Someone, anyone, everyone, no one, nothing...</a:t>
            </a:r>
            <a:br/>
            <a:r>
              <a:t>[!] GOLDEN RULE: Always takes a singular verb: “Everyone is ready.”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b="1" sz="1150">
                <a:solidFill>
                  <a:srgbClr val="C084FC"/>
                </a:solidFill>
                <a:latin typeface="Arial"/>
              </a:defRPr>
            </a:pPr>
            <a:r>
              <a:t>3. INTERROGATIVE PRONOUNS</a:t>
            </a:r>
          </a:p>
          <a:p>
            <a:pPr>
              <a:spcBef>
                <a:spcPts val="600"/>
              </a:spcBef>
              <a:defRPr sz="1150">
                <a:solidFill>
                  <a:srgbClr val="FFFFFF"/>
                </a:solidFill>
                <a:latin typeface="Calibri"/>
              </a:defRPr>
            </a:pPr>
            <a:r>
              <a:t>Who, whom, whose, which, what...</a:t>
            </a:r>
            <a:br/>
            <a:r>
              <a:t>Introduces direct or indirect inquiries: “Whose jacket is this?”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b="1" sz="1150">
                <a:solidFill>
                  <a:srgbClr val="FBBF24"/>
                </a:solidFill>
                <a:latin typeface="Arial"/>
              </a:defRPr>
            </a:pPr>
            <a:r>
              <a:t>4. RELATIVE PRONOUNS</a:t>
            </a:r>
          </a:p>
          <a:p>
            <a:pPr>
              <a:spcBef>
                <a:spcPts val="600"/>
              </a:spcBef>
              <a:defRPr sz="1150">
                <a:solidFill>
                  <a:srgbClr val="FFFFFF"/>
                </a:solidFill>
                <a:latin typeface="Calibri"/>
              </a:defRPr>
            </a:pPr>
            <a:r>
              <a:t>Who, whom, which, that, whose...</a:t>
            </a:r>
            <a:br/>
            <a:r>
              <a:t>Connects relative clauses to antecedent nouns: “The candidate who won the election...”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4747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00" b="1">
                <a:solidFill>
                  <a:srgbClr val="38BDF8"/>
                </a:solidFill>
                <a:latin typeface="Calibri"/>
              </a:defRPr>
            </a:pPr>
            <a:r>
              <a:t>PART 05 PRACTICE • QUESTION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Self-Action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Handling actions where the subject and object are the same person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5912" cy="1143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82880"/>
          <a:lstStyle/>
          <a:p>
            <a:pPr algn="ctr">
              <a:defRPr b="1" sz="1100">
                <a:solidFill>
                  <a:srgbClr val="FBBF24"/>
                </a:solidFill>
                <a:latin typeface="Arial"/>
              </a:defRPr>
            </a:pPr>
            <a:r>
              <a:t>[CHECK 09]</a:t>
            </a:r>
          </a:p>
          <a:p>
            <a:pPr>
              <a:spcBef>
                <a:spcPts val="600"/>
              </a:spcBef>
              <a:defRPr b="1" sz="1400">
                <a:solidFill>
                  <a:srgbClr val="FFFFFF"/>
                </a:solidFill>
                <a:latin typeface="Calibri"/>
              </a:defRPr>
            </a:pPr>
            <a:r>
              <a:t>“John was preparing dinner when he accidentally cut _____ with the knife.”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5212080" cy="822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A. him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926080"/>
            <a:ext cx="5212080" cy="822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B. his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12080" cy="822960"/>
          </a:xfrm>
          <a:prstGeom prst="roundRect">
            <a:avLst/>
          </a:prstGeom>
          <a:solidFill>
            <a:srgbClr val="064E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300" b="1">
                <a:solidFill>
                  <a:srgbClr val="34D399"/>
                </a:solidFill>
                <a:latin typeface="Calibri"/>
              </a:defRPr>
            </a:pPr>
            <a:r>
              <a:t>C. himself  [CORRECT]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212080" cy="822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D. he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83480"/>
            <a:ext cx="10725912" cy="1234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64592"/>
          <a:lstStyle/>
          <a:p>
            <a:pPr algn="ctr">
              <a:defRPr b="1" sz="1100">
                <a:solidFill>
                  <a:srgbClr val="34D399"/>
                </a:solidFill>
                <a:latin typeface="Arial"/>
              </a:defRPr>
            </a:pPr>
            <a:r>
              <a:t>[CORRECT ANSWER: C. himself]</a:t>
            </a:r>
          </a:p>
          <a:p>
            <a:pPr>
              <a:spcBef>
                <a:spcPts val="400"/>
              </a:spcBef>
              <a:defRPr sz="1150">
                <a:solidFill>
                  <a:srgbClr val="CBD5E1"/>
                </a:solidFill>
                <a:latin typeface="Calibri"/>
              </a:defRPr>
            </a:pPr>
            <a:r>
              <a:t>John performs the action of cutting and John himself receives the injury (Subject = Object). When the subject and object are identical ➔ requires Reflexive Pronoun 'himself'.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4747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00" b="1">
                <a:solidFill>
                  <a:srgbClr val="38BDF8"/>
                </a:solidFill>
                <a:latin typeface="Calibri"/>
              </a:defRPr>
            </a:pPr>
            <a:r>
              <a:t>PART 05 PRACTICE • QUESTION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Solo Execution Assessment (By + Reflexive)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Recognizing the classic idiomatic construction 'by + reflexive'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5912" cy="1143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82880"/>
          <a:lstStyle/>
          <a:p>
            <a:pPr algn="ctr">
              <a:defRPr b="1" sz="1100">
                <a:solidFill>
                  <a:srgbClr val="FBBF24"/>
                </a:solidFill>
                <a:latin typeface="Arial"/>
              </a:defRPr>
            </a:pPr>
            <a:r>
              <a:t>[CHECK 10]</a:t>
            </a:r>
          </a:p>
          <a:p>
            <a:pPr>
              <a:spcBef>
                <a:spcPts val="600"/>
              </a:spcBef>
              <a:defRPr b="1" sz="1400">
                <a:solidFill>
                  <a:srgbClr val="FFFFFF"/>
                </a:solidFill>
                <a:latin typeface="Calibri"/>
              </a:defRPr>
            </a:pPr>
            <a:r>
              <a:t>“Did someone assist him, or did he complete the assignment by _____?”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5212080" cy="822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A. him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926080"/>
            <a:ext cx="5212080" cy="822960"/>
          </a:xfrm>
          <a:prstGeom prst="roundRect">
            <a:avLst/>
          </a:prstGeom>
          <a:solidFill>
            <a:srgbClr val="064E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300" b="1">
                <a:solidFill>
                  <a:srgbClr val="34D399"/>
                </a:solidFill>
                <a:latin typeface="Calibri"/>
              </a:defRPr>
            </a:pPr>
            <a:r>
              <a:t>B. himself  [CORRECT]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12080" cy="822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C. his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212080" cy="822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D. he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83480"/>
            <a:ext cx="10725912" cy="1234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64592"/>
          <a:lstStyle/>
          <a:p>
            <a:pPr algn="ctr">
              <a:defRPr b="1" sz="1100">
                <a:solidFill>
                  <a:srgbClr val="34D399"/>
                </a:solidFill>
                <a:latin typeface="Arial"/>
              </a:defRPr>
            </a:pPr>
            <a:r>
              <a:t>[CORRECT ANSWER: B. himself]</a:t>
            </a:r>
          </a:p>
          <a:p>
            <a:pPr>
              <a:spcBef>
                <a:spcPts val="400"/>
              </a:spcBef>
              <a:defRPr sz="1150">
                <a:solidFill>
                  <a:srgbClr val="CBD5E1"/>
                </a:solidFill>
                <a:latin typeface="Calibri"/>
              </a:defRPr>
            </a:pPr>
            <a:r>
              <a:t>Classic idiomatic syntax: 'by + Reflexive Pronoun' = without assistance (alone / on one's own). Since subject is 'He' ➔ select 'by himself'.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4747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00" b="1">
                <a:solidFill>
                  <a:srgbClr val="38BDF8"/>
                </a:solidFill>
                <a:latin typeface="Calibri"/>
              </a:defRPr>
            </a:pPr>
            <a:r>
              <a:t>SYNTHESIS • DECISION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The 3 Golden Questions for Any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A mental flowchart to eliminate guesswork and achieve 100% syntactic accuracy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10712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100">
                <a:solidFill>
                  <a:srgbClr val="818CF8"/>
                </a:solidFill>
                <a:latin typeface="Arial"/>
              </a:defRPr>
            </a:pPr>
            <a:r>
              <a:t>QUESTION 1: POSITION?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  <a:latin typeface="Calibri"/>
              </a:defRPr>
            </a:pPr>
            <a:r>
              <a:t>Is it BEFORE or AFTER the verb / preposition?</a:t>
            </a:r>
            <a:br/>
            <a:r>
              <a:t>• Initiator before Verb -&gt; Subject Pronoun (He plays)</a:t>
            </a:r>
            <a:br/>
            <a:r>
              <a:t>• Target after Verb/Prep -&gt; Object Pronoun (I like him / between you and me)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37360"/>
            <a:ext cx="3410712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100">
                <a:solidFill>
                  <a:srgbClr val="38BDF8"/>
                </a:solidFill>
                <a:latin typeface="Arial"/>
              </a:defRPr>
            </a:pPr>
            <a:r>
              <a:t>QUESTION 2: NOUN FOLLOWING?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  <a:latin typeface="Calibri"/>
              </a:defRPr>
            </a:pPr>
            <a:r>
              <a:t>Is there a NOUN immediately after the blank?</a:t>
            </a:r>
            <a:br/>
            <a:r>
              <a:t>• YES -&gt; Possessive Adjective (my book, her car)</a:t>
            </a:r>
            <a:br/>
            <a:r>
              <a:t>• NO (Stands alone) -&gt; Possessive Pronoun (The car is mine / hers)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737360"/>
            <a:ext cx="3410712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100">
                <a:solidFill>
                  <a:srgbClr val="34D399"/>
                </a:solidFill>
                <a:latin typeface="Arial"/>
              </a:defRPr>
            </a:pPr>
            <a:r>
              <a:t>QUESTION 3: SAME PERSON / SOLO?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  <a:latin typeface="Calibri"/>
              </a:defRPr>
            </a:pPr>
            <a:r>
              <a:t>Does action reflect back on the initiator or done solo?</a:t>
            </a:r>
            <a:br/>
            <a:r>
              <a:t>• YES -&gt; Reflexive Pronoun (He cut himself / did it by himself)</a:t>
            </a:r>
            <a:br/>
            <a:r>
              <a:t>• NO -&gt; Normal Object Pronoun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4747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00" b="1">
                <a:solidFill>
                  <a:srgbClr val="38BDF8"/>
                </a:solidFill>
                <a:latin typeface="Calibri"/>
              </a:defRPr>
            </a:pPr>
            <a:r>
              <a:t>MASTER REFERENCE • TAXONOMY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All-in-One Pronouns Master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The comprehensive reference taxonomy for the 7 personal pronoun entities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737360"/>
          <a:ext cx="1072591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645920"/>
                <a:gridCol w="1645920"/>
                <a:gridCol w="1737360"/>
                <a:gridCol w="1737360"/>
                <a:gridCol w="1764792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ENTITY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SUBJECT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OBJECT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POSS. ADJ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POSS. PRON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REFLEXIVE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1st Sing. (I)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me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my + 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mine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myself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2nd Sing./Plur. (You)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you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you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your + 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yours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yourself / -selves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3rd Male (He)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he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him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his + 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his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himself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3rd Female (She)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she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her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her + 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hers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herself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3rd Neutral (It)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it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it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its + 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its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itself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1st Plural (We)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we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us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our + 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ours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ourselves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3rd Plural (They)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they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them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their + 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theirs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themselves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4747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00" b="1">
                <a:solidFill>
                  <a:srgbClr val="38BDF8"/>
                </a:solidFill>
                <a:latin typeface="Calibri"/>
              </a:defRPr>
            </a:pPr>
            <a:r>
              <a:t>GRAND CHALLENGE • COMPREHENSIVE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The Ultimate Test: Sarah's New Laptop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Combining possessive adjectives and possessive pronouns in a single sentence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737360"/>
            <a:ext cx="9445752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74320"/>
          <a:lstStyle/>
          <a:p>
            <a:pPr algn="ctr">
              <a:defRPr b="1" sz="1300">
                <a:solidFill>
                  <a:srgbClr val="F87171"/>
                </a:solidFill>
                <a:latin typeface="Arial"/>
              </a:defRPr>
            </a:pPr>
            <a:r>
              <a:t>[GRAND CHALLENGE QUESTION]</a:t>
            </a:r>
          </a:p>
          <a:p>
            <a:pPr>
              <a:spcBef>
                <a:spcPts val="800"/>
              </a:spcBef>
              <a:defRPr b="1" sz="1400">
                <a:solidFill>
                  <a:srgbClr val="FFFFFF"/>
                </a:solidFill>
                <a:latin typeface="Calibri"/>
              </a:defRPr>
            </a:pPr>
            <a:r>
              <a:t>“Sarah has a new laptop. _____ laptop is very expensive, but the laptop is not _____.”</a:t>
            </a:r>
          </a:p>
          <a:p>
            <a:pPr>
              <a:spcBef>
                <a:spcPts val="1200"/>
              </a:spcBef>
              <a:defRPr sz="1300">
                <a:solidFill>
                  <a:srgbClr val="CBD5E1"/>
                </a:solidFill>
                <a:latin typeface="Calibri"/>
              </a:defRPr>
            </a:pPr>
            <a:r>
              <a:t>Options:</a:t>
            </a:r>
            <a:br/>
            <a:r>
              <a:t>A. Hers / her</a:t>
            </a:r>
            <a:br/>
            <a:r>
              <a:t>B. Her / hers  [CORRECT ANSWER]</a:t>
            </a:r>
            <a:br/>
            <a:r>
              <a:t>C. She / her</a:t>
            </a:r>
            <a:br/>
            <a:r>
              <a:t>D. Her / she</a:t>
            </a:r>
          </a:p>
          <a:p>
            <a:pPr>
              <a:spcBef>
                <a:spcPts val="1400"/>
              </a:spcBef>
              <a:defRPr sz="1200">
                <a:solidFill>
                  <a:srgbClr val="34D399"/>
                </a:solidFill>
                <a:latin typeface="Calibri"/>
              </a:defRPr>
            </a:pPr>
            <a:r>
              <a:t>Detailed Breakdown:</a:t>
            </a:r>
            <a:br/>
            <a:r>
              <a:t>1. 'Her laptop': Precedes the noun 'laptop' ➔ Possessive Adjective (Her).</a:t>
            </a:r>
            <a:br/>
            <a:r>
              <a:t>2. 'not hers': Stands independently at sentence end without an accompanying noun ➔ Possessive Pronoun (Hers).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4747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00" b="1">
                <a:solidFill>
                  <a:srgbClr val="38BDF8"/>
                </a:solidFill>
                <a:latin typeface="Calibri"/>
              </a:defRPr>
            </a:pPr>
            <a:r>
              <a:t>CONCLUSION • KEY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Small Words, Massive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Why mastering pronouns transforms both fluency and precision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828800"/>
            <a:ext cx="9445752" cy="41148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548640"/>
          <a:lstStyle/>
          <a:p>
            <a:pPr algn="ctr">
              <a:defRPr b="1" sz="2200">
                <a:solidFill>
                  <a:srgbClr val="FFFFFF"/>
                </a:solidFill>
                <a:latin typeface="Arial"/>
              </a:defRPr>
            </a:pPr>
            <a:r>
              <a:t>“Pronouns may be small words, but they are very important in English.”</a:t>
            </a:r>
          </a:p>
          <a:p>
            <a:pPr algn="ctr">
              <a:spcBef>
                <a:spcPts val="2000"/>
              </a:spcBef>
              <a:defRPr sz="1400">
                <a:solidFill>
                  <a:srgbClr val="94A3B8"/>
                </a:solidFill>
                <a:latin typeface="Calibri"/>
              </a:defRPr>
            </a:pPr>
            <a:r>
              <a:t>Pronouns appear in almost every sentence. By mastering who/what they replace,</a:t>
            </a:r>
            <a:br/>
            <a:r>
              <a:t>their grammatical position, and ownership rules, your English becomes natural, fluent, and precise.</a:t>
            </a:r>
          </a:p>
          <a:p>
            <a:pPr algn="ctr">
              <a:spcBef>
                <a:spcPts val="3000"/>
              </a:spcBef>
              <a:defRPr b="1" sz="1500">
                <a:solidFill>
                  <a:srgbClr val="818CF8"/>
                </a:solidFill>
                <a:latin typeface="Arial"/>
              </a:defRPr>
            </a:pPr>
            <a:r>
              <a:t>Thank You! Opening Floor for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